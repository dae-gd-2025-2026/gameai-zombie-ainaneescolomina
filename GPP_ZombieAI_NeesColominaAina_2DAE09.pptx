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nca Coder" panose="020B0604020202020204" charset="0"/>
      <p:regular r:id="rId8"/>
    </p:embeddedFont>
    <p:embeddedFont>
      <p:font typeface="Anca Coder Bold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521623"/>
            <a:ext cx="14014208" cy="4096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166"/>
              </a:lnSpc>
            </a:pPr>
            <a:r>
              <a:rPr lang="en-US" sz="18957" spc="-75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GPP Exam: Zombie AI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47812" y="8309136"/>
            <a:ext cx="11496371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Aina Nees Colomina | 2DAE09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2769346"/>
            <a:ext cx="16230600" cy="6488954"/>
          </a:xfrm>
          <a:custGeom>
            <a:avLst/>
            <a:gdLst/>
            <a:ahLst/>
            <a:cxnLst/>
            <a:rect l="l" t="t" r="r" b="b"/>
            <a:pathLst>
              <a:path w="16230600" h="6488954">
                <a:moveTo>
                  <a:pt x="0" y="0"/>
                </a:moveTo>
                <a:lnTo>
                  <a:pt x="16230600" y="0"/>
                </a:lnTo>
                <a:lnTo>
                  <a:pt x="16230600" y="6488954"/>
                </a:lnTo>
                <a:lnTo>
                  <a:pt x="0" y="64889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TextBox 3"/>
          <p:cNvSpPr txBox="1"/>
          <p:nvPr/>
        </p:nvSpPr>
        <p:spPr>
          <a:xfrm>
            <a:off x="1028700" y="1295400"/>
            <a:ext cx="15201900" cy="822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7200" spc="-28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Decision Making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244838"/>
            <a:ext cx="16230600" cy="50723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Detection:</a:t>
            </a:r>
            <a:r>
              <a:rPr lang="en-US" sz="2799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 Uses the UE AI Perception system to track zombies via sight/hearing and manage memory via timestamped saves.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Shooting and Sprint:</a:t>
            </a:r>
            <a:r>
              <a:rPr lang="en-US" sz="2799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Armed agents halt to shoot targets; sprint automatically triggers against purge zones or special zombies.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Item usage:</a:t>
            </a:r>
            <a:r>
              <a:rPr lang="en-US" sz="2799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Automatically consumes food/medkits when stats are critically low.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Avoidance:</a:t>
            </a:r>
            <a:r>
              <a:rPr lang="en-US" sz="2799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Uses blended steering (80% Flee/Evade, 20% Wander) to escape unpredictably. </a:t>
            </a:r>
          </a:p>
          <a:p>
            <a:pPr algn="l">
              <a:lnSpc>
                <a:spcPts val="4800"/>
              </a:lnSpc>
            </a:pPr>
            <a:endParaRPr lang="en-US" sz="2799">
              <a:solidFill>
                <a:srgbClr val="3D3B3A"/>
              </a:solidFill>
              <a:latin typeface="Anca Coder"/>
              <a:ea typeface="Anca Coder"/>
              <a:cs typeface="Anca Coder"/>
              <a:sym typeface="Anca Coder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028700" y="6951327"/>
            <a:ext cx="5511198" cy="3093529"/>
            <a:chOff x="0" y="0"/>
            <a:chExt cx="1448023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48023" cy="812800"/>
            </a:xfrm>
            <a:custGeom>
              <a:avLst/>
              <a:gdLst/>
              <a:ahLst/>
              <a:cxnLst/>
              <a:rect l="l" t="t" r="r" b="b"/>
              <a:pathLst>
                <a:path w="1448023" h="812800">
                  <a:moveTo>
                    <a:pt x="56190" y="0"/>
                  </a:moveTo>
                  <a:lnTo>
                    <a:pt x="1391833" y="0"/>
                  </a:lnTo>
                  <a:cubicBezTo>
                    <a:pt x="1406735" y="0"/>
                    <a:pt x="1421028" y="5920"/>
                    <a:pt x="1431565" y="16458"/>
                  </a:cubicBezTo>
                  <a:cubicBezTo>
                    <a:pt x="1442103" y="26996"/>
                    <a:pt x="1448023" y="41288"/>
                    <a:pt x="1448023" y="56190"/>
                  </a:cubicBezTo>
                  <a:lnTo>
                    <a:pt x="1448023" y="756610"/>
                  </a:lnTo>
                  <a:cubicBezTo>
                    <a:pt x="1448023" y="771512"/>
                    <a:pt x="1442103" y="785804"/>
                    <a:pt x="1431565" y="796342"/>
                  </a:cubicBezTo>
                  <a:cubicBezTo>
                    <a:pt x="1421028" y="806880"/>
                    <a:pt x="1406735" y="812800"/>
                    <a:pt x="1391833" y="812800"/>
                  </a:cubicBezTo>
                  <a:lnTo>
                    <a:pt x="56190" y="812800"/>
                  </a:lnTo>
                  <a:cubicBezTo>
                    <a:pt x="41288" y="812800"/>
                    <a:pt x="26996" y="806880"/>
                    <a:pt x="16458" y="796342"/>
                  </a:cubicBezTo>
                  <a:cubicBezTo>
                    <a:pt x="5920" y="785804"/>
                    <a:pt x="0" y="771512"/>
                    <a:pt x="0" y="756610"/>
                  </a:cubicBezTo>
                  <a:lnTo>
                    <a:pt x="0" y="56190"/>
                  </a:lnTo>
                  <a:cubicBezTo>
                    <a:pt x="0" y="41288"/>
                    <a:pt x="5920" y="26996"/>
                    <a:pt x="16458" y="16458"/>
                  </a:cubicBezTo>
                  <a:cubicBezTo>
                    <a:pt x="26996" y="5920"/>
                    <a:pt x="41288" y="0"/>
                    <a:pt x="56190" y="0"/>
                  </a:cubicBezTo>
                  <a:close/>
                </a:path>
              </a:pathLst>
            </a:custGeom>
            <a:blipFill>
              <a:blip r:embed="rId2"/>
              <a:stretch>
                <a:fillRect r="-8705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074851" y="6951327"/>
            <a:ext cx="2138297" cy="3093529"/>
            <a:chOff x="0" y="0"/>
            <a:chExt cx="561821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61821" cy="812800"/>
            </a:xfrm>
            <a:custGeom>
              <a:avLst/>
              <a:gdLst/>
              <a:ahLst/>
              <a:cxnLst/>
              <a:rect l="l" t="t" r="r" b="b"/>
              <a:pathLst>
                <a:path w="561821" h="812800">
                  <a:moveTo>
                    <a:pt x="144824" y="0"/>
                  </a:moveTo>
                  <a:lnTo>
                    <a:pt x="416996" y="0"/>
                  </a:lnTo>
                  <a:cubicBezTo>
                    <a:pt x="496981" y="0"/>
                    <a:pt x="561821" y="64840"/>
                    <a:pt x="561821" y="144824"/>
                  </a:cubicBezTo>
                  <a:lnTo>
                    <a:pt x="561821" y="667976"/>
                  </a:lnTo>
                  <a:cubicBezTo>
                    <a:pt x="561821" y="747960"/>
                    <a:pt x="496981" y="812800"/>
                    <a:pt x="416996" y="812800"/>
                  </a:cubicBezTo>
                  <a:lnTo>
                    <a:pt x="144824" y="812800"/>
                  </a:lnTo>
                  <a:cubicBezTo>
                    <a:pt x="64840" y="812800"/>
                    <a:pt x="0" y="747960"/>
                    <a:pt x="0" y="667976"/>
                  </a:cubicBezTo>
                  <a:lnTo>
                    <a:pt x="0" y="144824"/>
                  </a:lnTo>
                  <a:cubicBezTo>
                    <a:pt x="0" y="64840"/>
                    <a:pt x="64840" y="0"/>
                    <a:pt x="144824" y="0"/>
                  </a:cubicBezTo>
                  <a:close/>
                </a:path>
              </a:pathLst>
            </a:custGeom>
            <a:blipFill>
              <a:blip r:embed="rId3"/>
              <a:stretch>
                <a:fillRect l="-113283" r="-157956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074851" y="6951327"/>
            <a:ext cx="9184449" cy="3093529"/>
            <a:chOff x="0" y="0"/>
            <a:chExt cx="241314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13140" cy="812800"/>
            </a:xfrm>
            <a:custGeom>
              <a:avLst/>
              <a:gdLst/>
              <a:ahLst/>
              <a:cxnLst/>
              <a:rect l="l" t="t" r="r" b="b"/>
              <a:pathLst>
                <a:path w="2413140" h="812800">
                  <a:moveTo>
                    <a:pt x="33718" y="0"/>
                  </a:moveTo>
                  <a:lnTo>
                    <a:pt x="2379423" y="0"/>
                  </a:lnTo>
                  <a:cubicBezTo>
                    <a:pt x="2398045" y="0"/>
                    <a:pt x="2413140" y="15096"/>
                    <a:pt x="2413140" y="33718"/>
                  </a:cubicBezTo>
                  <a:lnTo>
                    <a:pt x="2413140" y="779082"/>
                  </a:lnTo>
                  <a:cubicBezTo>
                    <a:pt x="2413140" y="788025"/>
                    <a:pt x="2409588" y="796601"/>
                    <a:pt x="2403265" y="802924"/>
                  </a:cubicBezTo>
                  <a:cubicBezTo>
                    <a:pt x="2396941" y="809248"/>
                    <a:pt x="2388365" y="812800"/>
                    <a:pt x="2379423" y="812800"/>
                  </a:cubicBezTo>
                  <a:lnTo>
                    <a:pt x="33718" y="812800"/>
                  </a:lnTo>
                  <a:cubicBezTo>
                    <a:pt x="24775" y="812800"/>
                    <a:pt x="16199" y="809248"/>
                    <a:pt x="9876" y="802924"/>
                  </a:cubicBezTo>
                  <a:cubicBezTo>
                    <a:pt x="3552" y="796601"/>
                    <a:pt x="0" y="788025"/>
                    <a:pt x="0" y="779082"/>
                  </a:cubicBezTo>
                  <a:lnTo>
                    <a:pt x="0" y="33718"/>
                  </a:lnTo>
                  <a:cubicBezTo>
                    <a:pt x="0" y="24775"/>
                    <a:pt x="3552" y="16199"/>
                    <a:pt x="9876" y="9876"/>
                  </a:cubicBezTo>
                  <a:cubicBezTo>
                    <a:pt x="16199" y="3552"/>
                    <a:pt x="24775" y="0"/>
                    <a:pt x="33718" y="0"/>
                  </a:cubicBezTo>
                  <a:close/>
                </a:path>
              </a:pathLst>
            </a:custGeom>
            <a:blipFill>
              <a:blip r:embed="rId4"/>
              <a:stretch>
                <a:fillRect t="-1028" b="-1028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295400"/>
            <a:ext cx="15201900" cy="822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7200" spc="-28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Enemy Handling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244838"/>
            <a:ext cx="16230600" cy="50723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Blackboard Inventory: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A service loops through the item slots and checks for Food, </a:t>
            </a:r>
            <a:r>
              <a:rPr lang="en-US" sz="2799" dirty="0" err="1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Medkits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, or Weapons, setting </a:t>
            </a:r>
            <a:r>
              <a:rPr lang="en-US" sz="2799" dirty="0" err="1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boolean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flags.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Item Usage: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The agent consumes food or </a:t>
            </a:r>
            <a:r>
              <a:rPr lang="en-US" sz="2799" dirty="0" err="1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medikits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when the stats drop, instantly removing the item from inventory.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Picking Up Items: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Checks the closest item and, if there is space in the slots, picks up the item or automatically destroys the garbage.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Item Memory: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Saves all seen items to later assess which of the known ones is closest.</a:t>
            </a:r>
          </a:p>
          <a:p>
            <a:pPr algn="l">
              <a:lnSpc>
                <a:spcPts val="4800"/>
              </a:lnSpc>
            </a:pPr>
            <a:endParaRPr lang="en-US" sz="2799" dirty="0">
              <a:solidFill>
                <a:srgbClr val="3D3B3A"/>
              </a:solidFill>
              <a:latin typeface="Anca Coder"/>
              <a:ea typeface="Anca Coder"/>
              <a:cs typeface="Anca Coder"/>
              <a:sym typeface="Anca Coder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028700" y="6951327"/>
            <a:ext cx="5511198" cy="3093529"/>
            <a:chOff x="0" y="0"/>
            <a:chExt cx="1448023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48023" cy="812800"/>
            </a:xfrm>
            <a:custGeom>
              <a:avLst/>
              <a:gdLst/>
              <a:ahLst/>
              <a:cxnLst/>
              <a:rect l="l" t="t" r="r" b="b"/>
              <a:pathLst>
                <a:path w="1448023" h="812800">
                  <a:moveTo>
                    <a:pt x="56190" y="0"/>
                  </a:moveTo>
                  <a:lnTo>
                    <a:pt x="1391833" y="0"/>
                  </a:lnTo>
                  <a:cubicBezTo>
                    <a:pt x="1406735" y="0"/>
                    <a:pt x="1421028" y="5920"/>
                    <a:pt x="1431565" y="16458"/>
                  </a:cubicBezTo>
                  <a:cubicBezTo>
                    <a:pt x="1442103" y="26996"/>
                    <a:pt x="1448023" y="41288"/>
                    <a:pt x="1448023" y="56190"/>
                  </a:cubicBezTo>
                  <a:lnTo>
                    <a:pt x="1448023" y="756610"/>
                  </a:lnTo>
                  <a:cubicBezTo>
                    <a:pt x="1448023" y="771512"/>
                    <a:pt x="1442103" y="785804"/>
                    <a:pt x="1431565" y="796342"/>
                  </a:cubicBezTo>
                  <a:cubicBezTo>
                    <a:pt x="1421028" y="806880"/>
                    <a:pt x="1406735" y="812800"/>
                    <a:pt x="1391833" y="812800"/>
                  </a:cubicBezTo>
                  <a:lnTo>
                    <a:pt x="56190" y="812800"/>
                  </a:lnTo>
                  <a:cubicBezTo>
                    <a:pt x="41288" y="812800"/>
                    <a:pt x="26996" y="806880"/>
                    <a:pt x="16458" y="796342"/>
                  </a:cubicBezTo>
                  <a:cubicBezTo>
                    <a:pt x="5920" y="785804"/>
                    <a:pt x="0" y="771512"/>
                    <a:pt x="0" y="756610"/>
                  </a:cubicBezTo>
                  <a:lnTo>
                    <a:pt x="0" y="56190"/>
                  </a:lnTo>
                  <a:cubicBezTo>
                    <a:pt x="0" y="41288"/>
                    <a:pt x="5920" y="26996"/>
                    <a:pt x="16458" y="16458"/>
                  </a:cubicBezTo>
                  <a:cubicBezTo>
                    <a:pt x="26996" y="5920"/>
                    <a:pt x="41288" y="0"/>
                    <a:pt x="56190" y="0"/>
                  </a:cubicBezTo>
                  <a:close/>
                </a:path>
              </a:pathLst>
            </a:custGeom>
            <a:blipFill>
              <a:blip r:embed="rId2"/>
              <a:stretch>
                <a:fillRect t="-1998" b="-1998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074851" y="6951327"/>
            <a:ext cx="2138297" cy="3093529"/>
            <a:chOff x="0" y="0"/>
            <a:chExt cx="561821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61821" cy="812800"/>
            </a:xfrm>
            <a:custGeom>
              <a:avLst/>
              <a:gdLst/>
              <a:ahLst/>
              <a:cxnLst/>
              <a:rect l="l" t="t" r="r" b="b"/>
              <a:pathLst>
                <a:path w="561821" h="812800">
                  <a:moveTo>
                    <a:pt x="144824" y="0"/>
                  </a:moveTo>
                  <a:lnTo>
                    <a:pt x="416996" y="0"/>
                  </a:lnTo>
                  <a:cubicBezTo>
                    <a:pt x="496981" y="0"/>
                    <a:pt x="561821" y="64840"/>
                    <a:pt x="561821" y="144824"/>
                  </a:cubicBezTo>
                  <a:lnTo>
                    <a:pt x="561821" y="667976"/>
                  </a:lnTo>
                  <a:cubicBezTo>
                    <a:pt x="561821" y="747960"/>
                    <a:pt x="496981" y="812800"/>
                    <a:pt x="416996" y="812800"/>
                  </a:cubicBezTo>
                  <a:lnTo>
                    <a:pt x="144824" y="812800"/>
                  </a:lnTo>
                  <a:cubicBezTo>
                    <a:pt x="64840" y="812800"/>
                    <a:pt x="0" y="747960"/>
                    <a:pt x="0" y="667976"/>
                  </a:cubicBezTo>
                  <a:lnTo>
                    <a:pt x="0" y="144824"/>
                  </a:lnTo>
                  <a:cubicBezTo>
                    <a:pt x="0" y="64840"/>
                    <a:pt x="64840" y="0"/>
                    <a:pt x="144824" y="0"/>
                  </a:cubicBezTo>
                  <a:close/>
                </a:path>
              </a:pathLst>
            </a:custGeom>
            <a:blipFill>
              <a:blip r:embed="rId3"/>
              <a:stretch>
                <a:fillRect t="-5353" b="-5353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1748102" y="6951327"/>
            <a:ext cx="5511198" cy="3093529"/>
            <a:chOff x="0" y="0"/>
            <a:chExt cx="1448023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448023" cy="812800"/>
            </a:xfrm>
            <a:custGeom>
              <a:avLst/>
              <a:gdLst/>
              <a:ahLst/>
              <a:cxnLst/>
              <a:rect l="l" t="t" r="r" b="b"/>
              <a:pathLst>
                <a:path w="1448023" h="812800">
                  <a:moveTo>
                    <a:pt x="56190" y="0"/>
                  </a:moveTo>
                  <a:lnTo>
                    <a:pt x="1391833" y="0"/>
                  </a:lnTo>
                  <a:cubicBezTo>
                    <a:pt x="1406735" y="0"/>
                    <a:pt x="1421028" y="5920"/>
                    <a:pt x="1431565" y="16458"/>
                  </a:cubicBezTo>
                  <a:cubicBezTo>
                    <a:pt x="1442103" y="26996"/>
                    <a:pt x="1448023" y="41288"/>
                    <a:pt x="1448023" y="56190"/>
                  </a:cubicBezTo>
                  <a:lnTo>
                    <a:pt x="1448023" y="756610"/>
                  </a:lnTo>
                  <a:cubicBezTo>
                    <a:pt x="1448023" y="771512"/>
                    <a:pt x="1442103" y="785804"/>
                    <a:pt x="1431565" y="796342"/>
                  </a:cubicBezTo>
                  <a:cubicBezTo>
                    <a:pt x="1421028" y="806880"/>
                    <a:pt x="1406735" y="812800"/>
                    <a:pt x="1391833" y="812800"/>
                  </a:cubicBezTo>
                  <a:lnTo>
                    <a:pt x="56190" y="812800"/>
                  </a:lnTo>
                  <a:cubicBezTo>
                    <a:pt x="41288" y="812800"/>
                    <a:pt x="26996" y="806880"/>
                    <a:pt x="16458" y="796342"/>
                  </a:cubicBezTo>
                  <a:cubicBezTo>
                    <a:pt x="5920" y="785804"/>
                    <a:pt x="0" y="771512"/>
                    <a:pt x="0" y="756610"/>
                  </a:cubicBezTo>
                  <a:lnTo>
                    <a:pt x="0" y="56190"/>
                  </a:lnTo>
                  <a:cubicBezTo>
                    <a:pt x="0" y="41288"/>
                    <a:pt x="5920" y="26996"/>
                    <a:pt x="16458" y="16458"/>
                  </a:cubicBezTo>
                  <a:cubicBezTo>
                    <a:pt x="26996" y="5920"/>
                    <a:pt x="41288" y="0"/>
                    <a:pt x="56190" y="0"/>
                  </a:cubicBezTo>
                  <a:close/>
                </a:path>
              </a:pathLst>
            </a:custGeom>
            <a:blipFill>
              <a:blip r:embed="rId4"/>
              <a:stretch>
                <a:fillRect t="-2324" b="-2324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295400"/>
            <a:ext cx="15201900" cy="822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7200" spc="-28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Inventory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244838"/>
            <a:ext cx="16230600" cy="5763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Steering Behaviors: 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Implements 4 steering behaviors: Seek, Flee, Evade, and Wander.  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Blended Steering: 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It uses </a:t>
            </a:r>
            <a:r>
              <a:rPr lang="en-US" sz="2799" dirty="0" err="1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BlendedSteering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logic to mix multiple behavior weights into a single velocity vector. Uses child behavior tree tasks to adjust individual movement weights depending on the task easily.</a:t>
            </a:r>
          </a:p>
          <a:p>
            <a:pPr marL="1209039" lvl="2" indent="-403013" algn="l">
              <a:lnSpc>
                <a:spcPts val="4479"/>
              </a:lnSpc>
              <a:buFont typeface="Arial"/>
              <a:buChar char="⚬"/>
            </a:pP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Example: Flee ⟶ 80% Flee/Evade, 20% Wander</a:t>
            </a:r>
          </a:p>
          <a:p>
            <a:pPr marL="604519" lvl="1" indent="-302260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Anti-Stuck Logic: 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Registers if the agent is blocked for 1.0 second, instantly overriding paths with a 90-degree escape detour, </a:t>
            </a:r>
            <a:r>
              <a:rPr lang="en-GB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adding 45 degrees for a more extreme turn if stuck for triple that time.</a:t>
            </a:r>
            <a:endParaRPr lang="en-US" sz="2799" dirty="0">
              <a:solidFill>
                <a:srgbClr val="3D3B3A"/>
              </a:solidFill>
              <a:latin typeface="Anca Coder"/>
              <a:ea typeface="Anca Coder"/>
              <a:cs typeface="Anca Coder"/>
              <a:sym typeface="Anca Coder"/>
            </a:endParaRPr>
          </a:p>
          <a:p>
            <a:pPr algn="l">
              <a:lnSpc>
                <a:spcPts val="4800"/>
              </a:lnSpc>
            </a:pPr>
            <a:endParaRPr lang="en-US" sz="2799" dirty="0">
              <a:solidFill>
                <a:srgbClr val="3D3B3A"/>
              </a:solidFill>
              <a:latin typeface="Anca Coder"/>
              <a:ea typeface="Anca Coder"/>
              <a:cs typeface="Anca Coder"/>
              <a:sym typeface="Anca Coder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28700" y="1295400"/>
            <a:ext cx="15201900" cy="822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7200" spc="-28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Movement - Steering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244838"/>
            <a:ext cx="16230600" cy="5634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Traversing the World:</a:t>
            </a:r>
            <a:r>
              <a:rPr lang="en-US" sz="2799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Uses a Seek steering force to navigate directly toward items or house entrances or switches to traverse the environment using a Wander task.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Memory:</a:t>
            </a:r>
            <a:r>
              <a:rPr lang="en-US" sz="2799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Saves all seen items to a tracking list and maps discovered buildings into a collection, flagging cleared houses as looted to filter for the closest target.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House Perimeter Navigation:</a:t>
            </a:r>
            <a:r>
              <a:rPr lang="en-US" sz="2799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Uses the map memory to register valid entryway points (DiscoveredEntrances), automatically choosing the closest known door vector to enter.</a:t>
            </a:r>
          </a:p>
          <a:p>
            <a:pPr algn="l">
              <a:lnSpc>
                <a:spcPts val="4800"/>
              </a:lnSpc>
            </a:pPr>
            <a:endParaRPr lang="en-US" sz="2799">
              <a:solidFill>
                <a:srgbClr val="3D3B3A"/>
              </a:solidFill>
              <a:latin typeface="Anca Coder"/>
              <a:ea typeface="Anca Coder"/>
              <a:cs typeface="Anca Coder"/>
              <a:sym typeface="Anca Coder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028700" y="7514998"/>
            <a:ext cx="9691759" cy="2459399"/>
            <a:chOff x="0" y="0"/>
            <a:chExt cx="2546432" cy="64618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46432" cy="646187"/>
            </a:xfrm>
            <a:custGeom>
              <a:avLst/>
              <a:gdLst/>
              <a:ahLst/>
              <a:cxnLst/>
              <a:rect l="l" t="t" r="r" b="b"/>
              <a:pathLst>
                <a:path w="2546432" h="646187">
                  <a:moveTo>
                    <a:pt x="31953" y="0"/>
                  </a:moveTo>
                  <a:lnTo>
                    <a:pt x="2514479" y="0"/>
                  </a:lnTo>
                  <a:cubicBezTo>
                    <a:pt x="2532126" y="0"/>
                    <a:pt x="2546432" y="14306"/>
                    <a:pt x="2546432" y="31953"/>
                  </a:cubicBezTo>
                  <a:lnTo>
                    <a:pt x="2546432" y="614235"/>
                  </a:lnTo>
                  <a:cubicBezTo>
                    <a:pt x="2546432" y="631882"/>
                    <a:pt x="2532126" y="646187"/>
                    <a:pt x="2514479" y="646187"/>
                  </a:cubicBezTo>
                  <a:lnTo>
                    <a:pt x="31953" y="646187"/>
                  </a:lnTo>
                  <a:cubicBezTo>
                    <a:pt x="14306" y="646187"/>
                    <a:pt x="0" y="631882"/>
                    <a:pt x="0" y="614235"/>
                  </a:cubicBezTo>
                  <a:lnTo>
                    <a:pt x="0" y="31953"/>
                  </a:lnTo>
                  <a:cubicBezTo>
                    <a:pt x="0" y="14306"/>
                    <a:pt x="14306" y="0"/>
                    <a:pt x="31953" y="0"/>
                  </a:cubicBezTo>
                  <a:close/>
                </a:path>
              </a:pathLst>
            </a:custGeom>
            <a:blipFill>
              <a:blip r:embed="rId2"/>
              <a:stretch>
                <a:fillRect t="-1475" b="-1475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295400"/>
            <a:ext cx="15201900" cy="822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7200" spc="-28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Movement - Exploration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374</Words>
  <Application>Microsoft Office PowerPoint</Application>
  <PresentationFormat>Custom</PresentationFormat>
  <Paragraphs>22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Anca Coder</vt:lpstr>
      <vt:lpstr>Anca Coder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Minimalist Business Strategy Overview Presentation</dc:title>
  <cp:lastModifiedBy>Aina NEES</cp:lastModifiedBy>
  <cp:revision>2</cp:revision>
  <dcterms:created xsi:type="dcterms:W3CDTF">2006-08-16T00:00:00Z</dcterms:created>
  <dcterms:modified xsi:type="dcterms:W3CDTF">2026-06-05T17:02:38Z</dcterms:modified>
  <dc:identifier>DAHLt2AB67E</dc:identifier>
</cp:coreProperties>
</file>